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7"/>
  </p:notesMasterIdLst>
  <p:sldIdLst>
    <p:sldId id="3288" r:id="rId6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846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3929" userDrawn="1">
          <p15:clr>
            <a:srgbClr val="A4A3A4"/>
          </p15:clr>
        </p15:guide>
        <p15:guide id="5" pos="7287">
          <p15:clr>
            <a:srgbClr val="A4A3A4"/>
          </p15:clr>
        </p15:guide>
        <p15:guide id="6" pos="6834" userDrawn="1">
          <p15:clr>
            <a:srgbClr val="A4A3A4"/>
          </p15:clr>
        </p15:guide>
        <p15:guide id="7" orient="horz" pos="12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A0B4"/>
    <a:srgbClr val="339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5108D-B8E7-4358-A123-2E921DBAF217}" v="4" dt="2026-07-27T13:38:01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>
        <p:guide pos="846"/>
        <p:guide orient="horz" pos="845"/>
        <p:guide orient="horz" pos="3929"/>
        <p:guide pos="7287"/>
        <p:guide pos="6834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, Anh-Huy-Kevin" userId="72b15d0b-6e55-4c0d-9a0a-75b7c7c3e661" providerId="ADAL" clId="{E667C51C-E78F-415B-B4C9-76CB51E914C2}"/>
    <pc:docChg chg="modSld">
      <pc:chgData name="Ho, Anh-Huy-Kevin" userId="72b15d0b-6e55-4c0d-9a0a-75b7c7c3e661" providerId="ADAL" clId="{E667C51C-E78F-415B-B4C9-76CB51E914C2}" dt="2026-07-27T13:38:01.175" v="3"/>
      <pc:docMkLst>
        <pc:docMk/>
      </pc:docMkLst>
      <pc:sldChg chg="addSp modSp">
        <pc:chgData name="Ho, Anh-Huy-Kevin" userId="72b15d0b-6e55-4c0d-9a0a-75b7c7c3e661" providerId="ADAL" clId="{E667C51C-E78F-415B-B4C9-76CB51E914C2}" dt="2026-07-27T13:38:01.175" v="3"/>
        <pc:sldMkLst>
          <pc:docMk/>
          <pc:sldMk cId="28681412" sldId="3288"/>
        </pc:sldMkLst>
        <pc:cxnChg chg="add mod">
          <ac:chgData name="Ho, Anh-Huy-Kevin" userId="72b15d0b-6e55-4c0d-9a0a-75b7c7c3e661" providerId="ADAL" clId="{E667C51C-E78F-415B-B4C9-76CB51E914C2}" dt="2026-07-27T13:34:21.324" v="0"/>
          <ac:cxnSpMkLst>
            <pc:docMk/>
            <pc:sldMk cId="28681412" sldId="3288"/>
            <ac:cxnSpMk id="26" creationId="{CDBA4401-34C0-E378-4852-BBEFA392B54C}"/>
          </ac:cxnSpMkLst>
        </pc:cxnChg>
        <pc:cxnChg chg="add mod">
          <ac:chgData name="Ho, Anh-Huy-Kevin" userId="72b15d0b-6e55-4c0d-9a0a-75b7c7c3e661" providerId="ADAL" clId="{E667C51C-E78F-415B-B4C9-76CB51E914C2}" dt="2026-07-27T13:35:30.717" v="1"/>
          <ac:cxnSpMkLst>
            <pc:docMk/>
            <pc:sldMk cId="28681412" sldId="3288"/>
            <ac:cxnSpMk id="43" creationId="{BE1511ED-DD56-4CFA-7751-3A5AAAE351CC}"/>
          </ac:cxnSpMkLst>
        </pc:cxnChg>
        <pc:cxnChg chg="add mod">
          <ac:chgData name="Ho, Anh-Huy-Kevin" userId="72b15d0b-6e55-4c0d-9a0a-75b7c7c3e661" providerId="ADAL" clId="{E667C51C-E78F-415B-B4C9-76CB51E914C2}" dt="2026-07-27T13:37:08.511" v="2"/>
          <ac:cxnSpMkLst>
            <pc:docMk/>
            <pc:sldMk cId="28681412" sldId="3288"/>
            <ac:cxnSpMk id="80" creationId="{94F8FACF-72DF-4370-80B8-71DD84C10F4A}"/>
          </ac:cxnSpMkLst>
        </pc:cxnChg>
        <pc:cxnChg chg="add mod">
          <ac:chgData name="Ho, Anh-Huy-Kevin" userId="72b15d0b-6e55-4c0d-9a0a-75b7c7c3e661" providerId="ADAL" clId="{E667C51C-E78F-415B-B4C9-76CB51E914C2}" dt="2026-07-27T13:38:01.175" v="3"/>
          <ac:cxnSpMkLst>
            <pc:docMk/>
            <pc:sldMk cId="28681412" sldId="3288"/>
            <ac:cxnSpMk id="91" creationId="{7B3D160D-8FE7-E1DF-BB27-85B77EDA1B75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A4FCC80-C29A-446D-B04C-B4936DE3C2A4}" type="datetimeFigureOut">
              <a:rPr lang="fr-FR" smtClean="0"/>
              <a:t>27/07/2026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9EA00BD-B2D0-4479-8649-BF983699C4D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3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765" cy="30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744072" y="440668"/>
            <a:ext cx="4824040" cy="1260562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744072" y="1808820"/>
            <a:ext cx="4824040" cy="215444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6744072" y="2157148"/>
            <a:ext cx="4824040" cy="20005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3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3060000"/>
            <a:ext cx="12192002" cy="324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378" y="886854"/>
            <a:ext cx="2700000" cy="8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7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2675619" y="1773238"/>
            <a:ext cx="3060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6096000" y="1773238"/>
            <a:ext cx="3096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370" y="1820388"/>
            <a:ext cx="1247160" cy="17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7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318000"/>
            <a:ext cx="12192765" cy="5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0" name="ZoneTexte 9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0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0"/>
            <a:ext cx="12192002" cy="630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2162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81122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428148" y="0"/>
            <a:ext cx="4139965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4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Verbati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" y="0"/>
            <a:ext cx="745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8036088" y="1160748"/>
            <a:ext cx="3532025" cy="2628292"/>
          </a:xfrm>
          <a:ln w="63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2400" b="0" i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Verbatim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1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3902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773238"/>
            <a:ext cx="5437187" cy="4176712"/>
          </a:xfrm>
        </p:spPr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067550" y="1196975"/>
            <a:ext cx="5124450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993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61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27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ram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-1" y="1196975"/>
            <a:ext cx="12192001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348028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3526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658814" y="2096852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13"/>
          </p:nvPr>
        </p:nvSpPr>
        <p:spPr>
          <a:xfrm>
            <a:off x="659396" y="2565400"/>
            <a:ext cx="3960000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  <p:sp>
        <p:nvSpPr>
          <p:cNvPr id="12" name="Espace réservé du graphique 7"/>
          <p:cNvSpPr>
            <a:spLocks noGrp="1"/>
          </p:cNvSpPr>
          <p:nvPr>
            <p:ph type="chart" sz="quarter" idx="14"/>
          </p:nvPr>
        </p:nvSpPr>
        <p:spPr>
          <a:xfrm>
            <a:off x="5123892" y="2565400"/>
            <a:ext cx="5292588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83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982850" y="5403725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4" name="Espace réservé du tableau 3"/>
          <p:cNvSpPr>
            <a:spLocks noGrp="1"/>
          </p:cNvSpPr>
          <p:nvPr>
            <p:ph type="tbl" sz="quarter" idx="14"/>
          </p:nvPr>
        </p:nvSpPr>
        <p:spPr>
          <a:xfrm>
            <a:off x="1019435" y="2060847"/>
            <a:ext cx="8820981" cy="3070799"/>
          </a:xfrm>
        </p:spPr>
        <p:txBody>
          <a:bodyPr vert="horz" lIns="36000" tIns="0" rIns="36000" bIns="0" rtlCol="0" anchor="ctr">
            <a:noAutofit/>
          </a:bodyPr>
          <a:lstStyle>
            <a:lvl1pPr>
              <a:defRPr lang="fr-FR" sz="1000" b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de-DE"/>
              <a:t>Tabelle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60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Whit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983109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8000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8439045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348889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2723862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2675620" y="4974733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065468" y="4974732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2123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5437187" cy="41767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43426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1089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ol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25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1475" y="141477"/>
            <a:ext cx="11448000" cy="814406"/>
          </a:xfrm>
        </p:spPr>
        <p:txBody>
          <a:bodyPr vert="horz" lIns="36000" tIns="0" rIns="36000" bIns="0" rtlCol="0" anchor="ctr">
            <a:noAutofit/>
          </a:bodyPr>
          <a:lstStyle>
            <a:lvl1pPr>
              <a:defRPr lang="en-US" sz="2400" noProof="0" dirty="0"/>
            </a:lvl1pPr>
          </a:lstStyle>
          <a:p>
            <a:pPr lvl="0" defTabSz="914400">
              <a:lnSpc>
                <a:spcPct val="90000"/>
              </a:lnSpc>
            </a:pPr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err="1"/>
              <a:t>Präsentationstitel</a:t>
            </a:r>
            <a:r>
              <a:rPr lang="fr-FR"/>
              <a:t> | </a:t>
            </a:r>
            <a:r>
              <a:rPr lang="fr-FR" err="1"/>
              <a:t>Datum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323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58813" y="152636"/>
            <a:ext cx="10909795" cy="814405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8813" y="1773237"/>
            <a:ext cx="10909795" cy="4176711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5"/>
            <a:r>
              <a:rPr lang="en-US" noProof="0" err="1"/>
              <a:t>Sixième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56000" y="6534819"/>
            <a:ext cx="4680000" cy="123111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Präsentationstitel | Datum</a:t>
            </a:r>
            <a:endParaRPr lang="en-US"/>
          </a:p>
        </p:txBody>
      </p:sp>
      <p:sp>
        <p:nvSpPr>
          <p:cNvPr id="8" name="ZoneTexte 7"/>
          <p:cNvSpPr txBox="1"/>
          <p:nvPr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7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4" r:id="rId4"/>
    <p:sldLayoutId id="2147483661" r:id="rId5"/>
    <p:sldLayoutId id="2147483662" r:id="rId6"/>
    <p:sldLayoutId id="2147483650" r:id="rId7"/>
    <p:sldLayoutId id="2147483653" r:id="rId8"/>
    <p:sldLayoutId id="2147483656" r:id="rId9"/>
    <p:sldLayoutId id="2147483657" r:id="rId10"/>
    <p:sldLayoutId id="2147483660" r:id="rId11"/>
    <p:sldLayoutId id="2147483658" r:id="rId12"/>
    <p:sldLayoutId id="2147483659" r:id="rId13"/>
    <p:sldLayoutId id="2147483664" r:id="rId14"/>
    <p:sldLayoutId id="2147483665" r:id="rId15"/>
    <p:sldLayoutId id="2147483663" r:id="rId16"/>
    <p:sldLayoutId id="2147483652" r:id="rId17"/>
    <p:sldLayoutId id="2147483666" r:id="rId18"/>
    <p:sldLayoutId id="2147483667" r:id="rId1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200"/>
        </a:spcBef>
        <a:buSzPct val="70000"/>
        <a:buFont typeface="Wingdings" panose="05000000000000000000" pitchFamily="2" charset="2"/>
        <a:buChar char=""/>
        <a:defRPr sz="1600" b="1" kern="1200">
          <a:solidFill>
            <a:schemeClr val="accent5"/>
          </a:solidFill>
          <a:latin typeface="+mn-lt"/>
          <a:ea typeface="+mn-ea"/>
          <a:cs typeface="+mn-cs"/>
        </a:defRPr>
      </a:lvl1pPr>
      <a:lvl2pPr marL="180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144000" algn="l" defTabSz="914400" rtl="0" eaLnBrk="1" latinLnBrk="0" hangingPunct="1">
        <a:lnSpc>
          <a:spcPct val="100000"/>
        </a:lnSpc>
        <a:spcBef>
          <a:spcPts val="1200"/>
        </a:spcBef>
        <a:buSzPct val="80000"/>
        <a:buFont typeface="Wingdings" panose="05000000000000000000" pitchFamily="2" charset="2"/>
        <a:buChar char="l"/>
        <a:defRPr sz="12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504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600"/>
        </a:spcBef>
        <a:buFont typeface="Verdana" panose="020B060403050404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10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536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166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  <p15:guide id="8" orient="horz" pos="111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590A8-EB57-4FBE-94E5-BD892151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19" y="161396"/>
            <a:ext cx="11448000" cy="814406"/>
          </a:xfrm>
        </p:spPr>
        <p:txBody>
          <a:bodyPr vert="horz" lIns="36000" tIns="0" rIns="36000" bIns="0" rtlCol="0" anchor="ctr">
            <a:noAutofit/>
          </a:bodyPr>
          <a:lstStyle/>
          <a:p>
            <a:r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t>ORGANIGRAMM Transdev Rechtsabteilung</a:t>
            </a:r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7DB8A3B4-677F-46E8-9366-DF137DF89A7E}"/>
              </a:ext>
            </a:extLst>
          </p:cNvPr>
          <p:cNvSpPr/>
          <p:nvPr/>
        </p:nvSpPr>
        <p:spPr>
          <a:xfrm>
            <a:off x="7100000" y="6515974"/>
            <a:ext cx="1443234" cy="1179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73026" fontAlgn="base">
              <a:spcBef>
                <a:spcPct val="0"/>
              </a:spcBef>
              <a:spcAft>
                <a:spcPct val="0"/>
              </a:spcAft>
            </a:pP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</a:t>
            </a:r>
            <a:r>
              <a:rPr lang="de-DE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10.07.2026</a:t>
            </a:r>
            <a:endParaRPr lang="de-DE" sz="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312ECC7E-EDF7-4203-9A8D-6A6CBF363AF6}"/>
              </a:ext>
            </a:extLst>
          </p:cNvPr>
          <p:cNvSpPr/>
          <p:nvPr/>
        </p:nvSpPr>
        <p:spPr>
          <a:xfrm>
            <a:off x="516000" y="5861000"/>
            <a:ext cx="3027410" cy="1179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73026" fontAlgn="base">
              <a:spcBef>
                <a:spcPct val="0"/>
              </a:spcBef>
              <a:spcAft>
                <a:spcPct val="0"/>
              </a:spcAft>
            </a:pPr>
            <a:r>
              <a:rPr lang="de-DE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 Organigramm ist nur für den internen Gebrauch bestimmt.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CF8D548C-8BAB-9315-C454-6243AE044D50}"/>
              </a:ext>
            </a:extLst>
          </p:cNvPr>
          <p:cNvSpPr txBox="1"/>
          <p:nvPr/>
        </p:nvSpPr>
        <p:spPr>
          <a:xfrm>
            <a:off x="7100000" y="5860000"/>
            <a:ext cx="4576000" cy="369332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de-DE" sz="800">
                <a:latin typeface="Arial" panose="020B0604020202020204" pitchFamily="34" charset="0"/>
                <a:cs typeface="Arial" panose="020B0604020202020204" pitchFamily="34" charset="0"/>
              </a:rPr>
              <a:t>*     Vergaberecht, Verkehrsverträge, PBefG-Recht und Subventionsrecht</a:t>
            </a:r>
          </a:p>
          <a:p>
            <a:r>
              <a:rPr lang="de-DE" sz="800">
                <a:latin typeface="Arial" panose="020B0604020202020204" pitchFamily="34" charset="0"/>
                <a:cs typeface="Arial" panose="020B0604020202020204" pitchFamily="34" charset="0"/>
              </a:rPr>
              <a:t>**    beinhaltet die Vertragsdatenbank</a:t>
            </a:r>
          </a:p>
          <a:p>
            <a:r>
              <a:rPr lang="de-DE" sz="800">
                <a:latin typeface="Arial" panose="020B0604020202020204" pitchFamily="34" charset="0"/>
                <a:cs typeface="Arial" panose="020B0604020202020204" pitchFamily="34" charset="0"/>
              </a:rPr>
              <a:t>***  Zivilrecht, IT-Recht, HGB-Recht, Fahrgastrechte, gewerblicher Rechtsschutz, Urheberrecht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6585838-D962-CC67-F207-576A5CD63150}"/>
              </a:ext>
            </a:extLst>
          </p:cNvPr>
          <p:cNvSpPr/>
          <p:nvPr/>
        </p:nvSpPr>
        <p:spPr>
          <a:xfrm>
            <a:off x="11928648" y="6453336"/>
            <a:ext cx="144016" cy="243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6" name="Stamm Leitung"/>
          <p:cNvCxnSpPr/>
          <p:nvPr/>
        </p:nvCxnSpPr>
        <p:spPr>
          <a:xfrm>
            <a:off x="6096000" y="1830000"/>
            <a:ext cx="0" cy="116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87" name="Verteilerbalken"/>
          <p:cNvCxnSpPr/>
          <p:nvPr/>
        </p:nvCxnSpPr>
        <p:spPr>
          <a:xfrm>
            <a:off x="1496000" y="1946000"/>
            <a:ext cx="920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88" name="Abgang Spalte 0"/>
          <p:cNvCxnSpPr/>
          <p:nvPr/>
        </p:nvCxnSpPr>
        <p:spPr>
          <a:xfrm>
            <a:off x="1496000" y="1946000"/>
            <a:ext cx="0" cy="116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89" name="Abgang Spalte 1"/>
          <p:cNvCxnSpPr/>
          <p:nvPr/>
        </p:nvCxnSpPr>
        <p:spPr>
          <a:xfrm>
            <a:off x="3796000" y="1946000"/>
            <a:ext cx="0" cy="116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0" name="Abgang Spalte 2"/>
          <p:cNvCxnSpPr/>
          <p:nvPr/>
        </p:nvCxnSpPr>
        <p:spPr>
          <a:xfrm>
            <a:off x="6096000" y="1946000"/>
            <a:ext cx="0" cy="116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1" name="Abgang Spalte 4"/>
          <p:cNvCxnSpPr/>
          <p:nvPr/>
        </p:nvCxnSpPr>
        <p:spPr>
          <a:xfrm>
            <a:off x="10696000" y="1946000"/>
            <a:ext cx="0" cy="116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2" name="Abgang Spalte 3"/>
          <p:cNvCxnSpPr/>
          <p:nvPr/>
        </p:nvCxnSpPr>
        <p:spPr>
          <a:xfrm>
            <a:off x="8396000" y="1946000"/>
            <a:ext cx="0" cy="772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3" name="Knick Spalte 0"/>
          <p:cNvCxnSpPr/>
          <p:nvPr/>
        </p:nvCxnSpPr>
        <p:spPr>
          <a:xfrm flipH="1">
            <a:off x="346000" y="2718000"/>
            <a:ext cx="115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4" name="Sammelleitung Spalte 0"/>
          <p:cNvCxnSpPr/>
          <p:nvPr/>
        </p:nvCxnSpPr>
        <p:spPr>
          <a:xfrm>
            <a:off x="346000" y="2718000"/>
            <a:ext cx="0" cy="1930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5" name="Stich Spalte 0 Zeile 2"/>
          <p:cNvCxnSpPr/>
          <p:nvPr/>
        </p:nvCxnSpPr>
        <p:spPr>
          <a:xfrm>
            <a:off x="346000" y="3104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6" name="Stich Spalte 0 Zeile 3"/>
          <p:cNvCxnSpPr/>
          <p:nvPr/>
        </p:nvCxnSpPr>
        <p:spPr>
          <a:xfrm>
            <a:off x="346000" y="3876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7" name="Stich Spalte 0 Zeile 4"/>
          <p:cNvCxnSpPr/>
          <p:nvPr/>
        </p:nvCxnSpPr>
        <p:spPr>
          <a:xfrm>
            <a:off x="346000" y="4648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8" name="Knick Spalte 2"/>
          <p:cNvCxnSpPr/>
          <p:nvPr/>
        </p:nvCxnSpPr>
        <p:spPr>
          <a:xfrm flipH="1">
            <a:off x="4946000" y="2718000"/>
            <a:ext cx="115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99" name="Sammelleitung Spalte 2"/>
          <p:cNvCxnSpPr/>
          <p:nvPr/>
        </p:nvCxnSpPr>
        <p:spPr>
          <a:xfrm>
            <a:off x="4946000" y="2718000"/>
            <a:ext cx="0" cy="2702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0" name="Stich Spalte 2 Zeile 2"/>
          <p:cNvCxnSpPr/>
          <p:nvPr/>
        </p:nvCxnSpPr>
        <p:spPr>
          <a:xfrm>
            <a:off x="4946000" y="3104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1" name="Stich Spalte 2 Zeile 3"/>
          <p:cNvCxnSpPr/>
          <p:nvPr/>
        </p:nvCxnSpPr>
        <p:spPr>
          <a:xfrm>
            <a:off x="4946000" y="3876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2" name="Stich Spalte 2 Zeile 4"/>
          <p:cNvCxnSpPr/>
          <p:nvPr/>
        </p:nvCxnSpPr>
        <p:spPr>
          <a:xfrm>
            <a:off x="4946000" y="4648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3" name="Stich Spalte 2 Zeile 5"/>
          <p:cNvCxnSpPr/>
          <p:nvPr/>
        </p:nvCxnSpPr>
        <p:spPr>
          <a:xfrm>
            <a:off x="4946000" y="5420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4" name="Knick Spalte 3"/>
          <p:cNvCxnSpPr/>
          <p:nvPr/>
        </p:nvCxnSpPr>
        <p:spPr>
          <a:xfrm flipH="1">
            <a:off x="7246000" y="2718000"/>
            <a:ext cx="115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5" name="Sammelleitung Spalte 3"/>
          <p:cNvCxnSpPr/>
          <p:nvPr/>
        </p:nvCxnSpPr>
        <p:spPr>
          <a:xfrm>
            <a:off x="7246000" y="2718000"/>
            <a:ext cx="0" cy="1930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6" name="Stich Spalte 3 Zeile 2"/>
          <p:cNvCxnSpPr/>
          <p:nvPr/>
        </p:nvCxnSpPr>
        <p:spPr>
          <a:xfrm>
            <a:off x="7246000" y="3104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7" name="Stich Spalte 3 Zeile 4"/>
          <p:cNvCxnSpPr/>
          <p:nvPr/>
        </p:nvCxnSpPr>
        <p:spPr>
          <a:xfrm>
            <a:off x="7246000" y="4648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8" name="Knick Spalte 4"/>
          <p:cNvCxnSpPr/>
          <p:nvPr/>
        </p:nvCxnSpPr>
        <p:spPr>
          <a:xfrm flipH="1">
            <a:off x="9546000" y="2718000"/>
            <a:ext cx="115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09" name="Sammelleitung Spalte 4"/>
          <p:cNvCxnSpPr/>
          <p:nvPr/>
        </p:nvCxnSpPr>
        <p:spPr>
          <a:xfrm>
            <a:off x="9546000" y="2718000"/>
            <a:ext cx="0" cy="1930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10" name="Stich Spalte 4 Zeile 2"/>
          <p:cNvCxnSpPr/>
          <p:nvPr/>
        </p:nvCxnSpPr>
        <p:spPr>
          <a:xfrm>
            <a:off x="9546000" y="3104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11" name="Stich Spalte 4 Zeile 3"/>
          <p:cNvCxnSpPr/>
          <p:nvPr/>
        </p:nvCxnSpPr>
        <p:spPr>
          <a:xfrm>
            <a:off x="9546000" y="3876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12" name="Stich Spalte 4 Zeile 4"/>
          <p:cNvCxnSpPr/>
          <p:nvPr/>
        </p:nvCxnSpPr>
        <p:spPr>
          <a:xfrm>
            <a:off x="9546000" y="4648000"/>
            <a:ext cx="170000" cy="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cxnSp>
        <p:nvCxnSpPr>
          <p:cNvPr id="113" name="Stamm Junior Legal Counsel"/>
          <p:cNvCxnSpPr/>
          <p:nvPr/>
        </p:nvCxnSpPr>
        <p:spPr>
          <a:xfrm>
            <a:off x="8396000" y="3374000"/>
            <a:ext cx="0" cy="232000"/>
          </a:xfrm>
          <a:prstGeom prst="line">
            <a:avLst/>
          </a:prstGeom>
          <a:ln w="9525">
            <a:solidFill>
              <a:srgbClr val="87A0B4"/>
            </a:solidFill>
          </a:ln>
          <a:effectLst/>
        </p:spPr>
      </p:cxnSp>
      <p:sp>
        <p:nvSpPr>
          <p:cNvPr id="114" name="Leitung Recht"/>
          <p:cNvSpPr/>
          <p:nvPr/>
        </p:nvSpPr>
        <p:spPr>
          <a:xfrm>
            <a:off x="3966000" y="1290000"/>
            <a:ext cx="4260000" cy="54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Verdana"/>
                <a:cs typeface="Verdana"/>
              </a:rPr>
              <a:t>Leiterin Recht - Anja Kühler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Verdana"/>
                <a:cs typeface="Verdana"/>
              </a:rPr>
              <a:t>(Stellvertreter - Adrian Hubig)</a:t>
            </a:r>
          </a:p>
        </p:txBody>
      </p:sp>
      <p:sp>
        <p:nvSpPr>
          <p:cNvPr id="115" name="Kasten A"/>
          <p:cNvSpPr/>
          <p:nvPr/>
        </p:nvSpPr>
        <p:spPr>
          <a:xfrm>
            <a:off x="516000" y="2062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Kartell-, Regulierungs- und Vergaberecht *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Leitung: Adrian Hubig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1,0 FTE</a:t>
            </a:r>
          </a:p>
        </p:txBody>
      </p:sp>
      <p:sp>
        <p:nvSpPr>
          <p:cNvPr id="116" name="Kasten B"/>
          <p:cNvSpPr/>
          <p:nvPr/>
        </p:nvSpPr>
        <p:spPr>
          <a:xfrm>
            <a:off x="2816000" y="2062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Schadens- und Versicherungsrecht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Cornelia Sauer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0,6 FTE</a:t>
            </a:r>
          </a:p>
        </p:txBody>
      </p:sp>
      <p:sp>
        <p:nvSpPr>
          <p:cNvPr id="117" name="Kasten C"/>
          <p:cNvSpPr/>
          <p:nvPr/>
        </p:nvSpPr>
        <p:spPr>
          <a:xfrm>
            <a:off x="5116000" y="2062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Gesellschaftsrecht, M&amp;A Beteiligungsverwaltung **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Leitung: Anja Kühler</a:t>
            </a:r>
          </a:p>
        </p:txBody>
      </p:sp>
      <p:sp>
        <p:nvSpPr>
          <p:cNvPr id="118" name="Kasten E"/>
          <p:cNvSpPr/>
          <p:nvPr/>
        </p:nvSpPr>
        <p:spPr>
          <a:xfrm>
            <a:off x="9716000" y="2062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Wirtschaftsrecht ***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Leitung: Sylvia Altrock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1,0 FTE</a:t>
            </a:r>
          </a:p>
        </p:txBody>
      </p:sp>
      <p:sp>
        <p:nvSpPr>
          <p:cNvPr id="119" name="Kasten A1"/>
          <p:cNvSpPr/>
          <p:nvPr/>
        </p:nvSpPr>
        <p:spPr>
          <a:xfrm>
            <a:off x="516000" y="2834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Kartell- und Regulierungsrecht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Einnahme-Aufteilung / Tarife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Adrian Hubig</a:t>
            </a:r>
          </a:p>
        </p:txBody>
      </p:sp>
      <p:sp>
        <p:nvSpPr>
          <p:cNvPr id="120" name="Kasten A2"/>
          <p:cNvSpPr/>
          <p:nvPr/>
        </p:nvSpPr>
        <p:spPr>
          <a:xfrm>
            <a:off x="516000" y="3606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Vergaberecht *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Lena Voigt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1,0 FTE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EZ</a:t>
            </a:r>
          </a:p>
        </p:txBody>
      </p:sp>
      <p:sp>
        <p:nvSpPr>
          <p:cNvPr id="121" name="Kasten A3"/>
          <p:cNvSpPr/>
          <p:nvPr/>
        </p:nvSpPr>
        <p:spPr>
          <a:xfrm>
            <a:off x="516000" y="4378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Vergaberecht *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Luisa Härtel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1,0 FTE</a:t>
            </a:r>
          </a:p>
        </p:txBody>
      </p:sp>
      <p:sp>
        <p:nvSpPr>
          <p:cNvPr id="122" name="Kasten C1"/>
          <p:cNvSpPr/>
          <p:nvPr/>
        </p:nvSpPr>
        <p:spPr>
          <a:xfrm>
            <a:off x="5116000" y="2834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Gesellschaftsrecht / M&amp;A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Anja Kühler + Adrian Hubig</a:t>
            </a:r>
          </a:p>
        </p:txBody>
      </p:sp>
      <p:sp>
        <p:nvSpPr>
          <p:cNvPr id="123" name="Kasten C2"/>
          <p:cNvSpPr/>
          <p:nvPr/>
        </p:nvSpPr>
        <p:spPr>
          <a:xfrm>
            <a:off x="5116000" y="3606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Gesellschaftsrecht / Beteiligungsverwaltung **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Linda Hielscher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0,85 FTE</a:t>
            </a:r>
          </a:p>
        </p:txBody>
      </p:sp>
      <p:sp>
        <p:nvSpPr>
          <p:cNvPr id="124" name="Kasten C3"/>
          <p:cNvSpPr/>
          <p:nvPr/>
        </p:nvSpPr>
        <p:spPr>
          <a:xfrm>
            <a:off x="5116000" y="4378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Gesellschaftsrecht Beteiligungsverwaltung **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Barbara Schilling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0,59 FTE</a:t>
            </a:r>
          </a:p>
        </p:txBody>
      </p:sp>
      <p:sp>
        <p:nvSpPr>
          <p:cNvPr id="125" name="Kasten C4"/>
          <p:cNvSpPr/>
          <p:nvPr/>
        </p:nvSpPr>
        <p:spPr>
          <a:xfrm>
            <a:off x="5116000" y="5150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Trainee claim management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Maxi-Mercedes Jahn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1,0 FTE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cs typeface="Arial"/>
              </a:rPr>
              <a:t>ab 01.10.2026</a:t>
            </a:r>
          </a:p>
        </p:txBody>
      </p:sp>
      <p:sp>
        <p:nvSpPr>
          <p:cNvPr id="126" name="Kasten D1"/>
          <p:cNvSpPr/>
          <p:nvPr/>
        </p:nvSpPr>
        <p:spPr>
          <a:xfrm>
            <a:off x="7416000" y="2834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Arbeitsrecht Bahngesellschaften + Holding, Führungsrkräfte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Jana Schulze</a:t>
            </a:r>
          </a:p>
        </p:txBody>
      </p:sp>
      <p:sp>
        <p:nvSpPr>
          <p:cNvPr id="127" name="Kasten D1a"/>
          <p:cNvSpPr/>
          <p:nvPr/>
        </p:nvSpPr>
        <p:spPr>
          <a:xfrm>
            <a:off x="7416000" y="3606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Junior Legal Counsel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Jessica De Franco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1,0 FTE</a:t>
            </a:r>
          </a:p>
        </p:txBody>
      </p:sp>
      <p:sp>
        <p:nvSpPr>
          <p:cNvPr id="128" name="Kasten D2"/>
          <p:cNvSpPr/>
          <p:nvPr/>
        </p:nvSpPr>
        <p:spPr>
          <a:xfrm>
            <a:off x="7416000" y="4378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Arbeitsrecht Busgesellschaften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Thorsten Röhrig</a:t>
            </a:r>
          </a:p>
        </p:txBody>
      </p:sp>
      <p:sp>
        <p:nvSpPr>
          <p:cNvPr id="129" name="Kasten E1"/>
          <p:cNvSpPr/>
          <p:nvPr/>
        </p:nvSpPr>
        <p:spPr>
          <a:xfrm>
            <a:off x="9716000" y="2834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Wirtschaftsrecht Schienengesellschaften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Sylvia Altrock</a:t>
            </a:r>
          </a:p>
        </p:txBody>
      </p:sp>
      <p:sp>
        <p:nvSpPr>
          <p:cNvPr id="130" name="Kasten E2"/>
          <p:cNvSpPr/>
          <p:nvPr/>
        </p:nvSpPr>
        <p:spPr>
          <a:xfrm>
            <a:off x="9716000" y="3606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Wirtschaftsrecht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Xenia Penz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0,5 FTE</a:t>
            </a:r>
          </a:p>
        </p:txBody>
      </p:sp>
      <p:sp>
        <p:nvSpPr>
          <p:cNvPr id="131" name="Kasten E3"/>
          <p:cNvSpPr/>
          <p:nvPr/>
        </p:nvSpPr>
        <p:spPr>
          <a:xfrm>
            <a:off x="9716000" y="4378000"/>
            <a:ext cx="1960000" cy="540000"/>
          </a:xfrm>
          <a:prstGeom prst="rect">
            <a:avLst/>
          </a:prstGeom>
          <a:solidFill>
            <a:srgbClr val="87A0B4"/>
          </a:solidFill>
          <a:ln>
            <a:noFill/>
          </a:ln>
          <a:effectLst/>
        </p:spPr>
        <p:txBody>
          <a:bodyPr rtlCol="0" anchor="ctr" wrap="square" lIns="36000" rIns="36000" tIns="18000" bIns="18000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cap="all">
                <a:solidFill>
                  <a:srgbClr val="FFFFFF"/>
                </a:solidFill>
                <a:latin typeface="Arial"/>
                <a:cs typeface="Arial"/>
              </a:rPr>
              <a:t>Wirtschaftsrecht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David Scholten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>
                <a:solidFill>
                  <a:srgbClr val="FFFFFF"/>
                </a:solidFill>
                <a:latin typeface="Arial"/>
                <a:cs typeface="Arial"/>
              </a:rPr>
              <a:t>1,0 FTE</a:t>
            </a:r>
          </a:p>
        </p:txBody>
      </p:sp>
    </p:spTree>
    <p:extLst>
      <p:ext uri="{BB962C8B-B14F-4D97-AF65-F5344CB8AC3E}">
        <p14:creationId xmlns:p14="http://schemas.microsoft.com/office/powerpoint/2010/main" val="28681412"/>
      </p:ext>
    </p:extLst>
  </p:cSld>
  <p:clrMapOvr>
    <a:masterClrMapping/>
  </p:clrMapOvr>
</p:sld>
</file>

<file path=ppt/theme/theme1.xml><?xml version="1.0" encoding="utf-8"?>
<a:theme xmlns:a="http://schemas.openxmlformats.org/drawingml/2006/main" name="181101_Transdev PPT 16x9 -deutsch_Master">
  <a:themeElements>
    <a:clrScheme name="Transdev PPT 2018_Colors">
      <a:dk1>
        <a:srgbClr val="1E1E1E"/>
      </a:dk1>
      <a:lt1>
        <a:sysClr val="window" lastClr="FFFFFF"/>
      </a:lt1>
      <a:dk2>
        <a:srgbClr val="FF0000"/>
      </a:dk2>
      <a:lt2>
        <a:srgbClr val="E7E7E8"/>
      </a:lt2>
      <a:accent1>
        <a:srgbClr val="A2CAB8"/>
      </a:accent1>
      <a:accent2>
        <a:srgbClr val="309CD6"/>
      </a:accent2>
      <a:accent3>
        <a:srgbClr val="F2B999"/>
      </a:accent3>
      <a:accent4>
        <a:srgbClr val="920024"/>
      </a:accent4>
      <a:accent5>
        <a:srgbClr val="FF7841"/>
      </a:accent5>
      <a:accent6>
        <a:srgbClr val="3C0C44"/>
      </a:accent6>
      <a:hlink>
        <a:srgbClr val="1E1E1E"/>
      </a:hlink>
      <a:folHlink>
        <a:srgbClr val="1E1E1E"/>
      </a:folHlink>
    </a:clrScheme>
    <a:fontScheme name="Transdev_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nsdev Diaporama 16x9 v1a.potx" id="{C45F4A66-92C3-455E-8354-B84AA66D329E}" vid="{026726A0-39F7-4AEA-B92D-51234BB884D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C88047E6081B4CAAEFFD55C0DCC090" ma:contentTypeVersion="15" ma:contentTypeDescription="Ein neues Dokument erstellen." ma:contentTypeScope="" ma:versionID="75e3670e0d2d2525d5c9ba9f3bb5f43a">
  <xsd:schema xmlns:xsd="http://www.w3.org/2001/XMLSchema" xmlns:xs="http://www.w3.org/2001/XMLSchema" xmlns:p="http://schemas.microsoft.com/office/2006/metadata/properties" xmlns:ns2="e6ce5c4a-50d1-4510-b20b-3c3265773073" xmlns:ns3="3d02d3fe-62e8-46f8-993b-a94c98366617" targetNamespace="http://schemas.microsoft.com/office/2006/metadata/properties" ma:root="true" ma:fieldsID="588a92294be122c2a35920a94c3980a0" ns2:_="" ns3:_="">
    <xsd:import namespace="e6ce5c4a-50d1-4510-b20b-3c3265773073"/>
    <xsd:import namespace="3d02d3fe-62e8-46f8-993b-a94c9836661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ce5c4a-50d1-4510-b20b-3c32657730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38d26fc-0aad-40fb-ad2a-5d52dcebc895}" ma:internalName="TaxCatchAll" ma:showField="CatchAllData" ma:web="e6ce5c4a-50d1-4510-b20b-3c3265773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02d3fe-62e8-46f8-993b-a94c983666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b49a2378-73c7-4e4c-bff8-b85a2f404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02d3fe-62e8-46f8-993b-a94c98366617">
      <Terms xmlns="http://schemas.microsoft.com/office/infopath/2007/PartnerControls"/>
    </lcf76f155ced4ddcb4097134ff3c332f>
    <TaxCatchAll xmlns="e6ce5c4a-50d1-4510-b20b-3c3265773073" xsi:nil="true"/>
  </documentManagement>
</p:properties>
</file>

<file path=customXml/item3.xml><?xml version="1.0" encoding="utf-8"?>
<?mso-contentType ?>
<SharedContentType xmlns="Microsoft.SharePoint.Taxonomy.ContentTypeSync" SourceId="b49a2378-73c7-4e4c-bff8-b85a2f404b86" ContentTypeId="0x0101" PreviousValue="false" LastSyncTimeStamp="2018-12-20T21:28:41Z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071809-7EFE-4D88-8E5E-F4925F59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ce5c4a-50d1-4510-b20b-3c3265773073"/>
    <ds:schemaRef ds:uri="3d02d3fe-62e8-46f8-993b-a94c983666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5BA329-3ADE-42C7-96DD-CD2729C32CE5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3d02d3fe-62e8-46f8-993b-a94c98366617"/>
    <ds:schemaRef ds:uri="e6ce5c4a-50d1-4510-b20b-3c3265773073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9A46A25-3937-4FD2-B2F0-F578EC048E1C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9F0876C3-A75B-42DA-A294-5FD11D2A5D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181101_Transdev PPT 16x9 -deutsch_Master</Template>
  <TotalTime>0</TotalTime>
  <Words>191</Words>
  <Application>Microsoft Office PowerPoint</Application>
  <PresentationFormat>Breitbild</PresentationFormat>
  <Paragraphs>42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181101_Transdev PPT 16x9 -deutsch_Master</vt:lpstr>
      <vt:lpstr>ORGANIGRAMM Transdev Rechtsabteilung</vt:lpstr>
    </vt:vector>
  </TitlesOfParts>
  <Company>Veolia Verkehr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 Zweizeiliger Titel</dc:title>
  <dc:creator>Kheladze, Mariam</dc:creator>
  <cp:lastModifiedBy>Ho, Anh-Huy-Kevin</cp:lastModifiedBy>
  <cp:revision>3</cp:revision>
  <cp:lastPrinted>2024-02-05T10:59:45Z</cp:lastPrinted>
  <dcterms:created xsi:type="dcterms:W3CDTF">2018-11-19T10:05:53Z</dcterms:created>
  <dcterms:modified xsi:type="dcterms:W3CDTF">2026-07-27T13:38:28Z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0x010100C4C88047E6081B4CAAEFFD55C0DCC090</vt:lpwstr>
  </property>
  <property fmtid="{D5CDD505-2E9C-101B-9397-08002B2CF9AE}" pid="3" name="Order">
    <vt:r8>4010700</vt:r8>
  </property>
  <property fmtid="{D5CDD505-2E9C-101B-9397-08002B2CF9AE}" pid="4" name="MediaServiceImageTags">
    <vt:lpwstr/>
  </property>
</Properties>
</file>